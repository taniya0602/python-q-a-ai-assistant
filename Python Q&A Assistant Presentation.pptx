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Inter Light"/>
      <p:regular r:id="rId17"/>
      <p:bold r:id="rId18"/>
      <p:italic r:id="rId19"/>
      <p:boldItalic r:id="rId20"/>
    </p:embeddedFont>
    <p:embeddedFont>
      <p:font typeface="Inter SemiBold"/>
      <p:regular r:id="rId21"/>
      <p:bold r:id="rId22"/>
      <p:italic r:id="rId23"/>
      <p:boldItalic r:id="rId24"/>
    </p:embeddedFont>
    <p:embeddedFont>
      <p:font typeface="Playfair Display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Inter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53BC08-8117-4594-A093-A4E646479995}">
  <a:tblStyle styleId="{7053BC08-8117-4594-A093-A4E64647999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Light-boldItalic.fntdata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ayfairDisplay-bold.fntdata"/><Relationship Id="rId25" Type="http://schemas.openxmlformats.org/officeDocument/2006/relationships/font" Target="fonts/PlayfairDisplay-regular.fntdata"/><Relationship Id="rId28" Type="http://schemas.openxmlformats.org/officeDocument/2006/relationships/font" Target="fonts/PlayfairDisplay-boldItalic.fntdata"/><Relationship Id="rId27" Type="http://schemas.openxmlformats.org/officeDocument/2006/relationships/font" Target="fonts/PlayfairDisplay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5.xml"/><Relationship Id="rId33" Type="http://schemas.openxmlformats.org/officeDocument/2006/relationships/font" Target="fonts/InterMedium-regular.fntdata"/><Relationship Id="rId10" Type="http://schemas.openxmlformats.org/officeDocument/2006/relationships/slide" Target="slides/slide4.xml"/><Relationship Id="rId32" Type="http://schemas.openxmlformats.org/officeDocument/2006/relationships/font" Target="fonts/Inter-boldItalic.fntdata"/><Relationship Id="rId13" Type="http://schemas.openxmlformats.org/officeDocument/2006/relationships/slide" Target="slides/slide7.xml"/><Relationship Id="rId35" Type="http://schemas.openxmlformats.org/officeDocument/2006/relationships/font" Target="fonts/InterMedium-italic.fntdata"/><Relationship Id="rId12" Type="http://schemas.openxmlformats.org/officeDocument/2006/relationships/slide" Target="slides/slide6.xml"/><Relationship Id="rId34" Type="http://schemas.openxmlformats.org/officeDocument/2006/relationships/font" Target="fonts/InterMedium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InterMedium-boldItalic.fntdata"/><Relationship Id="rId17" Type="http://schemas.openxmlformats.org/officeDocument/2006/relationships/font" Target="fonts/InterLight-regular.fntdata"/><Relationship Id="rId16" Type="http://schemas.openxmlformats.org/officeDocument/2006/relationships/slide" Target="slides/slide10.xml"/><Relationship Id="rId19" Type="http://schemas.openxmlformats.org/officeDocument/2006/relationships/font" Target="fonts/InterLight-italic.fntdata"/><Relationship Id="rId18" Type="http://schemas.openxmlformats.org/officeDocument/2006/relationships/font" Target="fonts/Inter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48375" y="5561558"/>
            <a:ext cx="64008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62000" y="915441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A7A7A"/>
                </a:solidFill>
                <a:latin typeface="Inter Light"/>
                <a:ea typeface="Inter Light"/>
                <a:cs typeface="Inter Light"/>
                <a:sym typeface="Inter Light"/>
              </a:rPr>
              <a:t>AI ENGINEER ASSESSMENT — ROUND 1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95300" y="1458366"/>
            <a:ext cx="11201400" cy="159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0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Python Programming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700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Q&amp;A Assistant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14775" y="3742502"/>
            <a:ext cx="10668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50" u="none" cap="none" strike="noStrike">
                <a:solidFill>
                  <a:srgbClr val="55555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Grounded answers from Stack Overflow · Powered by Gemini 2.5 Flash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948375" y="5713958"/>
            <a:ext cx="6400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  TANIYA AGGARWAL  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864298"/>
            <a:ext cx="10668000" cy="6247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359521"/>
            <a:ext cx="2495550" cy="21714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86150" y="2359521"/>
            <a:ext cx="2495550" cy="21714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0300" y="2359521"/>
            <a:ext cx="2495550" cy="21714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34450" y="2359521"/>
            <a:ext cx="2495550" cy="217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981075" y="5054798"/>
            <a:ext cx="102584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CONSTRAINT:</a:t>
            </a:r>
            <a:r>
              <a:rPr b="0" i="0" lang="en-US" sz="1200" u="none" cap="none" strike="noStrike">
                <a:solidFill>
                  <a:srgbClr val="4A4A4A"/>
                </a:solidFill>
                <a:latin typeface="Inter Medium"/>
                <a:ea typeface="Inter Medium"/>
                <a:cs typeface="Inter Medium"/>
                <a:sym typeface="Inter Medium"/>
              </a:rPr>
              <a:t> Zero hallucination — prompt explicitly instructs: "Answer ONLY from the provided context. No outside knowledge."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57275" y="2654796"/>
            <a:ext cx="2000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GOAL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57275" y="3016746"/>
            <a:ext cx="1905000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Build an AI-powered Q&amp;A system for data science learners — accurate Python answers at their fingertips.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3781425" y="2654796"/>
            <a:ext cx="2000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CHALLENGE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3781425" y="3016746"/>
            <a:ext cx="1905000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LLMs hallucinate — learners need grounded answers backed by real community knowledge, not AI guesses.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505575" y="2654796"/>
            <a:ext cx="2000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SOLUTION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505575" y="3016746"/>
            <a:ext cx="1905000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RAG pipeline: retrieve the most relevant Stack Overflow posts first, then generate the answer strictly from that context.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229725" y="2654796"/>
            <a:ext cx="2000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DATASET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229725" y="3016746"/>
            <a:ext cx="1905000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Stack Overflow Python Q&amp;A (Kaggle) — 50K+ high-quality Q&amp;A pairs filtered by community score ≥ 5.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Problem Statement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762000" y="1219200"/>
            <a:ext cx="10668000" cy="9525"/>
          </a:xfrm>
          <a:prstGeom prst="rect">
            <a:avLst/>
          </a:prstGeom>
          <a:solidFill>
            <a:srgbClr val="E0DE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62000" y="2383184"/>
            <a:ext cx="61150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A4A4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clean design coupling decoupled layers via clear API contracts: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2973734"/>
            <a:ext cx="61150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User Engine:</a:t>
            </a:r>
            <a:r>
              <a:rPr b="0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Submits raw query via browser client.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62000" y="3390900"/>
            <a:ext cx="61150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Next.js UI (:3000):</a:t>
            </a:r>
            <a:r>
              <a:rPr b="0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Renders intuitive chat streams &amp; source validation.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62000" y="3808065"/>
            <a:ext cx="61150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FastAPI Server (:8000):</a:t>
            </a:r>
            <a:r>
              <a:rPr b="0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Non-blocking high-performance service router.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62000" y="4225230"/>
            <a:ext cx="61150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RAG Pipeline Orchestration:</a:t>
            </a:r>
            <a:r>
              <a:rPr b="0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Connects vector mapping directly to foundational context generation.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62000" y="4916685"/>
            <a:ext cx="61150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Payload Target:</a:t>
            </a:r>
            <a:r>
              <a:rPr b="0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Synchronizes deterministic answer along with reference metadata.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648575" y="3124051"/>
            <a:ext cx="348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System Architecture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762000" y="1219200"/>
            <a:ext cx="10668000" cy="9525"/>
          </a:xfrm>
          <a:prstGeom prst="rect">
            <a:avLst/>
          </a:prstGeom>
          <a:solidFill>
            <a:srgbClr val="E0DE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5" title="architecture_diagr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300" y="1362075"/>
            <a:ext cx="9601224" cy="53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54846"/>
            <a:ext cx="2019300" cy="17389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4175" y="3054846"/>
            <a:ext cx="2019300" cy="17389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6350" y="3054846"/>
            <a:ext cx="2019300" cy="17389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48525" y="3054846"/>
            <a:ext cx="2019300" cy="17389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10700" y="3054846"/>
            <a:ext cx="2019300" cy="173890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914400" y="3254871"/>
            <a:ext cx="171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A6A6A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71537" y="3807321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EMBED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914400" y="4074021"/>
            <a:ext cx="171450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sentence-transformers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all-MiniLM-L6-v2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384-dim vectors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3076575" y="3254871"/>
            <a:ext cx="171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A6A6A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3033712" y="3807321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SEARCH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3076575" y="4074021"/>
            <a:ext cx="171450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FAISS cosine similarity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Top-5 most relevant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SO Q&amp;A pairs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238750" y="3254871"/>
            <a:ext cx="171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A6A6A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5195887" y="3807321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AUGMENT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238750" y="4074021"/>
            <a:ext cx="171450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Inject context into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strict RAG prompt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Temp = 0.1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7400925" y="3254871"/>
            <a:ext cx="171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A6A6A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7358062" y="3807321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GENERATE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400925" y="4074021"/>
            <a:ext cx="171450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google-genai SDK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Gemini 2.5 Flash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Markdown answer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9563100" y="3254871"/>
            <a:ext cx="171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A6A6A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5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9520237" y="3807321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RETURN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9563100" y="4074021"/>
            <a:ext cx="171450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answer + sources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+ latency_ms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+ timestamp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RAG Pipeline — Internal Steps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762000" y="1219200"/>
            <a:ext cx="10668000" cy="9525"/>
          </a:xfrm>
          <a:prstGeom prst="rect">
            <a:avLst/>
          </a:prstGeom>
          <a:solidFill>
            <a:srgbClr val="E0DE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632926"/>
            <a:ext cx="2495550" cy="281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6150" y="2632925"/>
            <a:ext cx="2495550" cy="281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2632926"/>
            <a:ext cx="2495550" cy="281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34450" y="2632926"/>
            <a:ext cx="2495550" cy="28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1057275" y="2928193"/>
            <a:ext cx="2000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Backend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057275" y="3290143"/>
            <a:ext cx="1905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FastAPI + Uvicorn — async REST API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057275" y="3853904"/>
            <a:ext cx="1905000" cy="1066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Python 3.9+, Pydantic v2 validation. Lifespan startup events (pipeline loads once). Full CORS support for frontend.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3781425" y="2928193"/>
            <a:ext cx="2000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RAG &amp; AI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3781425" y="3290143"/>
            <a:ext cx="1905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LangChain — retrieval orchestration only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3781425" y="3853904"/>
            <a:ext cx="1905000" cy="1066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FAISS — in-process vector similarity search. sentence-transformers all-MiniLM-L6-v2 (CPU). Google GenAI SDK — gemini-2.5-flash (direct).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505575" y="2928193"/>
            <a:ext cx="2000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Frontend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505575" y="3290143"/>
            <a:ext cx="1905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Next.js 14 App Router + TypeScript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505575" y="3853904"/>
            <a:ext cx="1905000" cy="1066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Tailwind CSS — dark-first design system. react-markdown + react-syntax-highlighter. Source cards, latency display, copy buttons.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9229725" y="2928193"/>
            <a:ext cx="2000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Dataset &amp; Infra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9229725" y="3290143"/>
            <a:ext cx="1905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Stack Overflow Python Q&amp;A (Kaggle)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9229725" y="3853904"/>
            <a:ext cx="1905000" cy="1066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50K+ pairs, score ≥ 5, HTML-cleaned. FAISS index — 384-dim cosine similarity. Dockerfile ready for HF Spaces / Render.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 Stack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762000" y="1219200"/>
            <a:ext cx="10668000" cy="9525"/>
          </a:xfrm>
          <a:prstGeom prst="rect">
            <a:avLst/>
          </a:prstGeom>
          <a:solidFill>
            <a:srgbClr val="E0DE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762000" y="1562100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01   RETRIEVE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762000" y="3287910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02   AUGMENT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762000" y="5013721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03   GENERATE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1000125" y="1893540"/>
            <a:ext cx="10429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Question embedded via sentence-transformers all-MiniLM-L6-v2 → 384-dim vector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1000125" y="2282130"/>
            <a:ext cx="10429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FAISS cosine similarity search across all indexed Stack Overflow Q&amp;A pairs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1000125" y="2670720"/>
            <a:ext cx="10429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Returns Top-5 most semantically relevant posts as retrieval context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1000125" y="3619351"/>
            <a:ext cx="10429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Retrieved context formatted as numbered sources and injected into prompt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1000125" y="4007941"/>
            <a:ext cx="10429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Strict instruction: "Answer ONLY from the context — no outside knowledge allowed"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1000125" y="4396531"/>
            <a:ext cx="10429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Temperature = 0.1 → low randomness → factual, grounded, deterministic answers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1000125" y="5345162"/>
            <a:ext cx="10429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google-genai SDK sends the full prompt directly to Gemini 2.5 Flash (no LangChain LLM)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1000125" y="5733752"/>
            <a:ext cx="10429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Gemini returns a markdown-formatted answer with properly formatted code blocks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1000125" y="6122342"/>
            <a:ext cx="10429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Sources (title, score, snippet) returned alongside answer for full transparency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762000" y="189354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6A6A6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762000" y="228213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6A6A6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762000" y="267072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6A6A6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762000" y="3619351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6A6A6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762000" y="4007941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6A6A6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762000" y="4396531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6A6A6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762000" y="5345162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6A6A6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762000" y="5733752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6A6A6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762000" y="6122342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6A6A6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RAG Pipeline — How It Works</a:t>
            </a: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762000" y="1219200"/>
            <a:ext cx="10668000" cy="9525"/>
          </a:xfrm>
          <a:prstGeom prst="rect">
            <a:avLst/>
          </a:prstGeom>
          <a:solidFill>
            <a:srgbClr val="E0DE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9" name="Google Shape;209;p19"/>
          <p:cNvGraphicFramePr/>
          <p:nvPr/>
        </p:nvGraphicFramePr>
        <p:xfrm>
          <a:off x="762000" y="31576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{7053BC08-8117-4594-A093-A4E646479995}</a:tableStyleId>
              </a:tblPr>
              <a:tblGrid>
                <a:gridCol w="595025"/>
                <a:gridCol w="2068425"/>
                <a:gridCol w="5284300"/>
                <a:gridCol w="1430825"/>
                <a:gridCol w="1289450"/>
              </a:tblGrid>
              <a:tr h="493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A4A4A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#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A4A4A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A4A4A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Question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A4A4A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Latency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A4A4A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Result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0"/>
                    </a:solidFill>
                  </a:tcPr>
                </a:tc>
              </a:tr>
              <a:tr h="493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Basic Ops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How do I reverse a list in Python?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3409ms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 PASS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Structures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What is the difference between list and tuple?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2625ms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 PASS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Functional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How do list comprehensions work in Python?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4027ms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 PASS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File I/O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How do I read a file line by line?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4317ms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 PASS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OOP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How do I use decorators in Python?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4384ms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 PASS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0" name="Google Shape;210;p19"/>
          <p:cNvSpPr/>
          <p:nvPr/>
        </p:nvSpPr>
        <p:spPr>
          <a:xfrm>
            <a:off x="762000" y="3681561"/>
            <a:ext cx="595014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1357014" y="3681561"/>
            <a:ext cx="2068413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3425428" y="3681561"/>
            <a:ext cx="5284291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8709719" y="3681561"/>
            <a:ext cx="1430833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10140553" y="3681561"/>
            <a:ext cx="1289446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762000" y="1728936"/>
            <a:ext cx="25241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10/10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762000" y="2586186"/>
            <a:ext cx="2524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A7A7A"/>
                </a:solidFill>
                <a:latin typeface="Inter"/>
                <a:ea typeface="Inter"/>
                <a:cs typeface="Inter"/>
                <a:sym typeface="Inter"/>
              </a:rPr>
              <a:t>QUERIES PASSED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3476625" y="1728936"/>
            <a:ext cx="25241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14/14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3476625" y="2586186"/>
            <a:ext cx="2524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A7A7A"/>
                </a:solidFill>
                <a:latin typeface="Inter"/>
                <a:ea typeface="Inter"/>
                <a:cs typeface="Inter"/>
                <a:sym typeface="Inter"/>
              </a:rPr>
              <a:t>UNIT TESTS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191250" y="1728936"/>
            <a:ext cx="25241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3.33s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6191250" y="2586186"/>
            <a:ext cx="2524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A7A7A"/>
                </a:solidFill>
                <a:latin typeface="Inter"/>
                <a:ea typeface="Inter"/>
                <a:cs typeface="Inter"/>
                <a:sym typeface="Inter"/>
              </a:rPr>
              <a:t>AVG LATENCY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8905875" y="1728936"/>
            <a:ext cx="25241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100%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8905875" y="2586186"/>
            <a:ext cx="2524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A7A7A"/>
                </a:solidFill>
                <a:latin typeface="Inter"/>
                <a:ea typeface="Inter"/>
                <a:cs typeface="Inter"/>
                <a:sym typeface="Inter"/>
              </a:rPr>
              <a:t>PASS RATE</a:t>
            </a:r>
            <a:endParaRPr/>
          </a:p>
        </p:txBody>
      </p:sp>
      <p:sp>
        <p:nvSpPr>
          <p:cNvPr id="223" name="Google Shape;223;p19"/>
          <p:cNvSpPr/>
          <p:nvPr/>
        </p:nvSpPr>
        <p:spPr>
          <a:xfrm>
            <a:off x="762000" y="4177754"/>
            <a:ext cx="595014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1357014" y="4177754"/>
            <a:ext cx="2068413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3425428" y="4177754"/>
            <a:ext cx="5284291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8709719" y="4177754"/>
            <a:ext cx="1430833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10140553" y="4177754"/>
            <a:ext cx="1289446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762000" y="4659659"/>
            <a:ext cx="595014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1357014" y="4659659"/>
            <a:ext cx="2068413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3425428" y="4659659"/>
            <a:ext cx="5284291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8709719" y="4659659"/>
            <a:ext cx="1430833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10140553" y="4659659"/>
            <a:ext cx="1289446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762000" y="5141565"/>
            <a:ext cx="595014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1357014" y="5141565"/>
            <a:ext cx="2068413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3425428" y="5141565"/>
            <a:ext cx="5284291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8709719" y="5141565"/>
            <a:ext cx="1430833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10140553" y="5141565"/>
            <a:ext cx="1289446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762000" y="5623470"/>
            <a:ext cx="595014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1357014" y="5623470"/>
            <a:ext cx="2068413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3425428" y="5623470"/>
            <a:ext cx="5284291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8709719" y="5623470"/>
            <a:ext cx="1430833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10140553" y="5623470"/>
            <a:ext cx="1289446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762000" y="6105376"/>
            <a:ext cx="595014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1357014" y="6105376"/>
            <a:ext cx="2068413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3425428" y="6105376"/>
            <a:ext cx="5284291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8709719" y="6105376"/>
            <a:ext cx="1430833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10140553" y="6105376"/>
            <a:ext cx="1289446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Test Results — 10 / 10 Pass</a:t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762000" y="1219200"/>
            <a:ext cx="10668000" cy="9525"/>
          </a:xfrm>
          <a:prstGeom prst="rect">
            <a:avLst/>
          </a:prstGeom>
          <a:solidFill>
            <a:srgbClr val="E0DE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5" name="Google Shape;255;p20"/>
          <p:cNvGraphicFramePr/>
          <p:nvPr/>
        </p:nvGraphicFramePr>
        <p:xfrm>
          <a:off x="762000" y="1833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{7053BC08-8117-4594-A093-A4E646479995}</a:tableStyleId>
              </a:tblPr>
              <a:tblGrid>
                <a:gridCol w="2133600"/>
                <a:gridCol w="3733800"/>
                <a:gridCol w="4800600"/>
              </a:tblGrid>
              <a:tr h="696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A4A4A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Concern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A4A4A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Current State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A4A4A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At 100+ Users — Solution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0"/>
                    </a:solidFill>
                  </a:tcPr>
                </a:tc>
              </a:tr>
              <a:tr h="696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⚡ Latency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~3.3s avg, single Uvicorn worker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Multiple workers + Nginx LB + streaming SSE → &lt;1s perceived UI latency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6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🔍 Vector Search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FAISS in-process (in-memory)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Pinecone / Qdrant — distributed, persistent, rock-solid sub-10ms search profile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6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🤖 LLM Calls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Synchronous, one per request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Async batch execution execution pipeline + Gemini prompt caching → up to 75% cost reduction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6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💾 Caching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None — every query hits Gemini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Redis semantic cache system — repeated answers served instantly, target ~40% hit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6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👁 Observability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Basic stdout standard logging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4A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LangSmith LLM tracing + Datadog APM metrics + structured JSON application logs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6" name="Google Shape;256;p20"/>
          <p:cNvSpPr/>
          <p:nvPr/>
        </p:nvSpPr>
        <p:spPr>
          <a:xfrm>
            <a:off x="762000" y="2357735"/>
            <a:ext cx="21336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2895600" y="2357735"/>
            <a:ext cx="37338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6629400" y="2357735"/>
            <a:ext cx="48006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762000" y="3097708"/>
            <a:ext cx="2133600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2895600" y="3097708"/>
            <a:ext cx="3733800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6629400" y="3097708"/>
            <a:ext cx="4800600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762000" y="3823394"/>
            <a:ext cx="2133600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2895600" y="3823394"/>
            <a:ext cx="3733800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6629400" y="3823394"/>
            <a:ext cx="4800600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762000" y="4549080"/>
            <a:ext cx="2133600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2895600" y="4549080"/>
            <a:ext cx="3733800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6629400" y="4549080"/>
            <a:ext cx="4800600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762000" y="5274766"/>
            <a:ext cx="2133600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2895600" y="5274766"/>
            <a:ext cx="3733800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6629400" y="5274766"/>
            <a:ext cx="4800600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762000" y="6000452"/>
            <a:ext cx="2133600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2895600" y="6000452"/>
            <a:ext cx="3733800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6629400" y="6000452"/>
            <a:ext cx="4800600" cy="9525"/>
          </a:xfrm>
          <a:prstGeom prst="rect">
            <a:avLst/>
          </a:prstGeom>
          <a:solidFill>
            <a:srgbClr val="E8E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Scaling to 100+ Concurrent Users</a:t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762000" y="1219200"/>
            <a:ext cx="10668000" cy="9525"/>
          </a:xfrm>
          <a:prstGeom prst="rect">
            <a:avLst/>
          </a:prstGeom>
          <a:solidFill>
            <a:srgbClr val="E0DE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682329"/>
            <a:ext cx="3403550" cy="24837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4150" y="2682329"/>
            <a:ext cx="3403550" cy="24837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6300" y="2682329"/>
            <a:ext cx="3403699" cy="2483792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1"/>
          <p:cNvSpPr txBox="1"/>
          <p:nvPr/>
        </p:nvSpPr>
        <p:spPr>
          <a:xfrm>
            <a:off x="1057275" y="2977604"/>
            <a:ext cx="2953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Gemini 2.5 Flash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1057275" y="3434804"/>
            <a:ext cx="2813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~$30/day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1057275" y="3895725"/>
            <a:ext cx="2813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$0.0003 base rate calculation metric per individual user query × 100K daily volume.</a:t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4689425" y="2977604"/>
            <a:ext cx="2953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With Redis Cache</a:t>
            </a:r>
            <a:endParaRPr/>
          </a:p>
        </p:txBody>
      </p:sp>
      <p:sp>
        <p:nvSpPr>
          <p:cNvPr id="288" name="Google Shape;288;p21"/>
          <p:cNvSpPr txBox="1"/>
          <p:nvPr/>
        </p:nvSpPr>
        <p:spPr>
          <a:xfrm>
            <a:off x="4689425" y="3434804"/>
            <a:ext cx="2813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~$18/day</a:t>
            </a:r>
            <a:endParaRPr/>
          </a:p>
        </p:txBody>
      </p:sp>
      <p:sp>
        <p:nvSpPr>
          <p:cNvPr id="289" name="Google Shape;289;p21"/>
          <p:cNvSpPr txBox="1"/>
          <p:nvPr/>
        </p:nvSpPr>
        <p:spPr>
          <a:xfrm>
            <a:off x="4689425" y="3895725"/>
            <a:ext cx="28130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Derived via ~40% cache hit architecture assumption, passing direct matching savings back to operations.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8321575" y="2977604"/>
            <a:ext cx="295380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Pinecone Serverless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8321575" y="3434804"/>
            <a:ext cx="2813149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~$10/day</a:t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8321575" y="3895725"/>
            <a:ext cx="281314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Flat cost calculated on standard scaling vectors of approximately $0.10 per 1M vectors queried.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Estimated Cost @ 100K queries / day</a:t>
            </a:r>
            <a:endParaRPr/>
          </a:p>
        </p:txBody>
      </p:sp>
      <p:sp>
        <p:nvSpPr>
          <p:cNvPr id="294" name="Google Shape;294;p21"/>
          <p:cNvSpPr/>
          <p:nvPr/>
        </p:nvSpPr>
        <p:spPr>
          <a:xfrm>
            <a:off x="762000" y="1219200"/>
            <a:ext cx="10668000" cy="9525"/>
          </a:xfrm>
          <a:prstGeom prst="rect">
            <a:avLst/>
          </a:prstGeom>
          <a:solidFill>
            <a:srgbClr val="E0DE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2"/>
          <p:cNvSpPr txBox="1"/>
          <p:nvPr/>
        </p:nvSpPr>
        <p:spPr>
          <a:xfrm>
            <a:off x="762000" y="1944141"/>
            <a:ext cx="53506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Design Decisions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6334125" y="1944141"/>
            <a:ext cx="53506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Next Strategic Steps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1000125" y="2315616"/>
            <a:ext cx="4857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google-genai SDK directly:</a:t>
            </a:r>
            <a:r>
              <a:rPr b="0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Native connection over abstractions like LangChain LLM wrappers for speed and transparency.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1000125" y="3252787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sentence-transformers on CPU:</a:t>
            </a:r>
            <a:r>
              <a:rPr b="0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Clean sub-second matching with zero infrastructure overhead dependencies.</a:t>
            </a:r>
            <a:endParaRPr/>
          </a:p>
        </p:txBody>
      </p:sp>
      <p:sp>
        <p:nvSpPr>
          <p:cNvPr id="304" name="Google Shape;304;p22"/>
          <p:cNvSpPr txBox="1"/>
          <p:nvPr/>
        </p:nvSpPr>
        <p:spPr>
          <a:xfrm>
            <a:off x="1000125" y="3915667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FAISS in-process:</a:t>
            </a:r>
            <a:r>
              <a:rPr b="0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Rapid evaluation build footprint; seamlessly ready to swap to enterprise Pinecone indices.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1000125" y="4578548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Strict 0.1 Temperature:</a:t>
            </a:r>
            <a:r>
              <a:rPr b="0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Eradicates common text engine deviations to yield pure factual integrity.</a:t>
            </a:r>
            <a:endParaRPr/>
          </a:p>
        </p:txBody>
      </p:sp>
      <p:sp>
        <p:nvSpPr>
          <p:cNvPr id="306" name="Google Shape;306;p22"/>
          <p:cNvSpPr txBox="1"/>
          <p:nvPr/>
        </p:nvSpPr>
        <p:spPr>
          <a:xfrm>
            <a:off x="1000125" y="5241428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Pydantic v2 data validations:</a:t>
            </a:r>
            <a:r>
              <a:rPr b="0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Strong contracts preventing silent ingestion validation drops.</a:t>
            </a:r>
            <a:endParaRPr/>
          </a:p>
        </p:txBody>
      </p:sp>
      <p:sp>
        <p:nvSpPr>
          <p:cNvPr id="307" name="Google Shape;307;p22"/>
          <p:cNvSpPr txBox="1"/>
          <p:nvPr/>
        </p:nvSpPr>
        <p:spPr>
          <a:xfrm>
            <a:off x="6572250" y="2315616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Deploy to Hugging Face Spaces:</a:t>
            </a:r>
            <a:r>
              <a:rPr b="0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Port docker parameters out to live sandbox host environments.</a:t>
            </a:r>
            <a:endParaRPr/>
          </a:p>
        </p:txBody>
      </p:sp>
      <p:sp>
        <p:nvSpPr>
          <p:cNvPr id="308" name="Google Shape;308;p22"/>
          <p:cNvSpPr txBox="1"/>
          <p:nvPr/>
        </p:nvSpPr>
        <p:spPr>
          <a:xfrm>
            <a:off x="6572250" y="2978497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Ingest full 50K Kaggle dataset:</a:t>
            </a:r>
            <a:r>
              <a:rPr b="0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Complete population transition out from testing benchmarks.</a:t>
            </a:r>
            <a:endParaRPr/>
          </a:p>
        </p:txBody>
      </p:sp>
      <p:sp>
        <p:nvSpPr>
          <p:cNvPr id="309" name="Google Shape;309;p22"/>
          <p:cNvSpPr txBox="1"/>
          <p:nvPr/>
        </p:nvSpPr>
        <p:spPr>
          <a:xfrm>
            <a:off x="6572250" y="3641377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Streaming Server-Sent Events:</a:t>
            </a:r>
            <a:r>
              <a:rPr b="0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Optimize real-time token rendering speeds down to milliseconds.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6572250" y="4304258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Continuous Implicit Feedback Loops:</a:t>
            </a:r>
            <a:r>
              <a:rPr b="0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Establish diagnostic quality telemetry tracking parameters.</a:t>
            </a:r>
            <a:endParaRPr/>
          </a:p>
        </p:txBody>
      </p:sp>
      <p:sp>
        <p:nvSpPr>
          <p:cNvPr id="311" name="Google Shape;311;p22"/>
          <p:cNvSpPr txBox="1"/>
          <p:nvPr/>
        </p:nvSpPr>
        <p:spPr>
          <a:xfrm>
            <a:off x="6572250" y="4967138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Multi-turn context tracking:</a:t>
            </a:r>
            <a:r>
              <a:rPr b="0" i="0" lang="en-US" sz="1350" u="none" cap="none" strike="noStrike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Expand retrieval logic across consecutive context layers.</a:t>
            </a:r>
            <a:endParaRPr/>
          </a:p>
        </p:txBody>
      </p:sp>
      <p:sp>
        <p:nvSpPr>
          <p:cNvPr id="312" name="Google Shape;312;p22"/>
          <p:cNvSpPr txBox="1"/>
          <p:nvPr/>
        </p:nvSpPr>
        <p:spPr>
          <a:xfrm>
            <a:off x="762000" y="2315616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6A6A6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762000" y="325278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6A6A6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762000" y="391566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6A6A6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315" name="Google Shape;315;p22"/>
          <p:cNvSpPr txBox="1"/>
          <p:nvPr/>
        </p:nvSpPr>
        <p:spPr>
          <a:xfrm>
            <a:off x="762000" y="4578548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6A6A6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316" name="Google Shape;316;p22"/>
          <p:cNvSpPr txBox="1"/>
          <p:nvPr/>
        </p:nvSpPr>
        <p:spPr>
          <a:xfrm>
            <a:off x="762000" y="5241428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6A6A6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6334125" y="2315616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6A6A6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6334125" y="297849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6A6A6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319" name="Google Shape;319;p22"/>
          <p:cNvSpPr txBox="1"/>
          <p:nvPr/>
        </p:nvSpPr>
        <p:spPr>
          <a:xfrm>
            <a:off x="6334125" y="364137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6A6A6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320" name="Google Shape;320;p22"/>
          <p:cNvSpPr txBox="1"/>
          <p:nvPr/>
        </p:nvSpPr>
        <p:spPr>
          <a:xfrm>
            <a:off x="6334125" y="4304258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6A6A6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6334125" y="4967138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6A6A6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Decisions &amp; Next Steps</a:t>
            </a:r>
            <a:endParaRPr/>
          </a:p>
        </p:txBody>
      </p:sp>
      <p:sp>
        <p:nvSpPr>
          <p:cNvPr id="323" name="Google Shape;323;p22"/>
          <p:cNvSpPr/>
          <p:nvPr/>
        </p:nvSpPr>
        <p:spPr>
          <a:xfrm>
            <a:off x="762000" y="1219200"/>
            <a:ext cx="10668000" cy="9525"/>
          </a:xfrm>
          <a:prstGeom prst="rect">
            <a:avLst/>
          </a:prstGeom>
          <a:solidFill>
            <a:srgbClr val="E0DE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